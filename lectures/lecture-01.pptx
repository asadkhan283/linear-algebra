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0" r:id="rId11"/>
    <p:sldId id="263" r:id="rId12"/>
    <p:sldId id="264" r:id="rId13"/>
    <p:sldId id="271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-17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263284"/>
          </a:solidFill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63284"/>
          </a:solidFill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263284"/>
          </a:solidFill>
        </p:spPr>
      </p:sp>
      <p:sp>
        <p:nvSpPr>
          <p:cNvPr id="5" name="Text 3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LECTURE FOR COMPUTER SCIENCE STUDENTS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60120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Linear Algebra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 Computer </a:t>
            </a:r>
            <a:r>
              <a:rPr lang="en-US" sz="5400" b="1" dirty="0" smtClean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Science </a:t>
            </a:r>
            <a:endParaRPr lang="en-US" sz="5400" b="1" dirty="0" smtClean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Designed by</a:t>
            </a:r>
            <a:endParaRPr lang="en-US" sz="3200" b="1" dirty="0" smtClean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 smtClean="0">
                <a:solidFill>
                  <a:srgbClr val="FFFF00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Dr. M. </a:t>
            </a:r>
            <a:r>
              <a:rPr lang="en-US" sz="3600" b="1" dirty="0" err="1" smtClean="0">
                <a:solidFill>
                  <a:srgbClr val="FFFF00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Asad</a:t>
            </a:r>
            <a:r>
              <a:rPr lang="en-US" sz="3600" b="1" dirty="0" smtClean="0">
                <a:solidFill>
                  <a:srgbClr val="FFFF00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 </a:t>
            </a:r>
            <a:r>
              <a:rPr lang="en-US" sz="3600" b="1" dirty="0" err="1" smtClean="0">
                <a:solidFill>
                  <a:srgbClr val="FFFF00"/>
                </a:solidFill>
                <a:latin typeface="Cambria" panose="02040503050406030204" pitchFamily="34" charset="0"/>
                <a:ea typeface="Cambria" panose="02040503050406030204" pitchFamily="34" charset="-122"/>
              </a:rPr>
              <a:t>Iqbal</a:t>
            </a:r>
            <a:endParaRPr lang="en-US" sz="3600" dirty="0">
              <a:solidFill>
                <a:srgbClr val="FFFF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matrices, vectors, and dot products quietly power images, recommendation engines, and every neural network you'll ever train.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 •  Vectors  •  Matrices  •  Classifiers  •  Neural Networks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Does Computer Science Need Linear Algebra?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is the backbone of computer science — especially AI and Machine Learning. It is the tool that lets a computer process, analyze, or compress numbers at massive scale.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13509" cy="3977640"/>
          </a:xfrm>
          <a:prstGeom prst="roundRect">
            <a:avLst>
              <a:gd name="adj" fmla="val 3633"/>
            </a:avLst>
          </a:prstGeom>
          <a:solidFill>
            <a:srgbClr val="F7F8FC"/>
          </a:solidFill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5354" y="242316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1235354" y="2423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168432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Representation of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4023360"/>
            <a:ext cx="1684325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Images, text, and audio are stored as matrices — grids of numbers a computer can understand.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18181" y="2148840"/>
            <a:ext cx="2013509" cy="3977640"/>
          </a:xfrm>
          <a:prstGeom prst="roundRect">
            <a:avLst>
              <a:gd name="adj" fmla="val 3633"/>
            </a:avLst>
          </a:prstGeom>
          <a:solidFill>
            <a:srgbClr val="CADCFC"/>
          </a:solidFill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4895" y="242316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3504895" y="2423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82773" y="3246120"/>
            <a:ext cx="168432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Dimensionality Reduction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82773" y="4023360"/>
            <a:ext cx="1684325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Techniques like PCA and SVD shrink huge feature sets while keeping the important information.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87722" y="2148840"/>
            <a:ext cx="2013509" cy="3977640"/>
          </a:xfrm>
          <a:prstGeom prst="roundRect">
            <a:avLst>
              <a:gd name="adj" fmla="val 3633"/>
            </a:avLst>
          </a:prstGeom>
          <a:solidFill>
            <a:srgbClr val="F7F8FC"/>
          </a:solidFill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74436" y="242316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5774436" y="2423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52314" y="3246120"/>
            <a:ext cx="168432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52314" y="4023360"/>
            <a:ext cx="1684325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models use linear algebra to find the minimum error — the core engine of machine learning.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7262" y="2162810"/>
            <a:ext cx="2013509" cy="3977640"/>
          </a:xfrm>
          <a:prstGeom prst="roundRect">
            <a:avLst>
              <a:gd name="adj" fmla="val 3633"/>
            </a:avLst>
          </a:prstGeom>
          <a:solidFill>
            <a:srgbClr val="CADCFC"/>
          </a:solidFill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3977" y="242316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8043977" y="2423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21854" y="3246120"/>
            <a:ext cx="168432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521854" y="4023360"/>
            <a:ext cx="1684325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transformations combine existing data into new, more meaningful features.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26803" y="2148840"/>
            <a:ext cx="2013509" cy="3977640"/>
          </a:xfrm>
          <a:prstGeom prst="roundRect">
            <a:avLst>
              <a:gd name="adj" fmla="val 3633"/>
            </a:avLst>
          </a:prstGeom>
          <a:solidFill>
            <a:srgbClr val="F7F8FC"/>
          </a:solidFill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13518" y="242316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7" name="Text 25"/>
          <p:cNvSpPr/>
          <p:nvPr/>
        </p:nvSpPr>
        <p:spPr>
          <a:xfrm>
            <a:off x="10313518" y="2423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791395" y="3246120"/>
            <a:ext cx="168432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 Measures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791395" y="4023360"/>
            <a:ext cx="1684325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Embeddings turn words and sentences into vectors so machines can compare meaning.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Representation of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12064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datasets — images, text, audio — are stored in matrices (grids of numbers). That's how a computer “learns” and understands them.
No data or image is represented as a single line. Instead, matrices organize data into rows and columns, so each value knows its neighbours — essential when a filter needs nearby pixels to detect an edge.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</p:spPr>
      </p:sp>
      <p:sp>
        <p:nvSpPr>
          <p:cNvPr id="6" name="Text 4"/>
          <p:cNvSpPr/>
          <p:nvPr/>
        </p:nvSpPr>
        <p:spPr>
          <a:xfrm>
            <a:off x="777240" y="4434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475488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100×100 pixel image  </a:t>
            </a: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becomes a 100×100 matrix
</a:t>
            </a: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WhatsApp photo  </a:t>
            </a: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is internally a matrix
</a:t>
            </a: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Netflix recommendations  </a:t>
            </a: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matrix of user ratings</a:t>
            </a:r>
            <a:endParaRPr lang="en-US" sz="1250" dirty="0"/>
          </a:p>
        </p:txBody>
      </p:sp>
      <p:pic>
        <p:nvPicPr>
          <p:cNvPr id="8" name="Image 0" descr="images/01_data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234440"/>
            <a:ext cx="5669280" cy="5029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Dimensionality Reduction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 many variables slow models down and cause two big problems: duplication of information, and models that can't find a clear pattern. Linear Algebra (SVD, PCA) reduces variables while keeping the important information — boosting model efficiency.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</p:spPr>
      </p:sp>
      <p:sp>
        <p:nvSpPr>
          <p:cNvPr id="6" name="Text 4"/>
          <p:cNvSpPr/>
          <p:nvPr/>
        </p:nvSpPr>
        <p:spPr>
          <a:xfrm>
            <a:off x="777240" y="301752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1,000 features  </a:t>
            </a:r>
            <a:r>
              <a:rPr lang="en-US" sz="15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reduced to 10  </a:t>
            </a:r>
            <a:r>
              <a:rPr lang="en-US" sz="13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model becomes faster
</a:t>
            </a:r>
            <a:r>
              <a:rPr lang="en-US" sz="12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in PCA (Principal Component Analysis) for ML: less variation, easier to solve; more information, more useful.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</p:spPr>
      </p:sp>
      <p:sp>
        <p:nvSpPr>
          <p:cNvPr id="8" name="Text 6"/>
          <p:cNvSpPr/>
          <p:nvPr/>
        </p:nvSpPr>
        <p:spPr>
          <a:xfrm>
            <a:off x="777240" y="46177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93776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dimensions → more duplication and no clear pattern. Fewer, well-chosen dimensions → the model recognizes patterns easily and generalizes better.</a:t>
            </a:r>
            <a:endParaRPr lang="en-US" sz="1250" dirty="0"/>
          </a:p>
        </p:txBody>
      </p:sp>
      <p:pic>
        <p:nvPicPr>
          <p:cNvPr id="10" name="Image 0" descr="images/02_dim_reduc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143000"/>
            <a:ext cx="5669280" cy="5120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Optimization — The Core Engine of 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2120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models use linear algebra to find the minimum of a function — the lowest possible error. Minimizing cost/error or maximizing accuracy/marks are the same idea: find the best 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263284"/>
          </a:solidFill>
        </p:spPr>
      </p:sp>
      <p:sp>
        <p:nvSpPr>
          <p:cNvPr id="6" name="Text 4"/>
          <p:cNvSpPr/>
          <p:nvPr/>
        </p:nvSpPr>
        <p:spPr>
          <a:xfrm>
            <a:off x="822960" y="2971800"/>
            <a:ext cx="466344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training works:
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Model starts with random weights (millions of numbers)
2.  It makes a prediction and measures the error
3.  Gradient descent updates the weights, step by step
4.  Repeat until the error is minimized
</a:t>
            </a:r>
            <a:r>
              <a:rPr lang="en-US" sz="12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Translate and ChatGPT run this same optimization loop at enormous scale.</a:t>
            </a:r>
            <a:endParaRPr lang="en-US" sz="1400" dirty="0"/>
          </a:p>
        </p:txBody>
      </p:sp>
      <p:pic>
        <p:nvPicPr>
          <p:cNvPr id="7" name="Image 0" descr="images/03_optimiz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051560"/>
            <a:ext cx="5669280" cy="5257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7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6E77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Mixing different features creates new features, through linear transformations and matrix operations. New, meaningful data emerges from existing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CADCFC"/>
          </a:solidFill>
        </p:spPr>
      </p:sp>
      <p:sp>
        <p:nvSpPr>
          <p:cNvPr id="6" name="Text 4"/>
          <p:cNvSpPr/>
          <p:nvPr/>
        </p:nvSpPr>
        <p:spPr>
          <a:xfrm>
            <a:off x="822960" y="2788920"/>
            <a:ext cx="484632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
</a:t>
            </a:r>
            <a:r>
              <a:rPr lang="en-US" sz="14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Height + Weight  </a:t>
            </a:r>
            <a:r>
              <a:rPr lang="en-US" sz="14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</a:t>
            </a: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BMI (Body Mass Index)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brand-new feature built from existing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7F8FC"/>
          </a:solidFill>
        </p:spPr>
      </p:sp>
      <p:sp>
        <p:nvSpPr>
          <p:cNvPr id="8" name="Text 6"/>
          <p:cNvSpPr/>
          <p:nvPr/>
        </p:nvSpPr>
        <p:spPr>
          <a:xfrm>
            <a:off x="822960" y="452628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TRANSFORMATIONS  </a:t>
            </a:r>
            <a:r>
              <a:rPr lang="en-US" sz="11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(3D → 2D,  2D → 3D)
</a:t>
            </a: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resizing, rotating, blurring, and zooming are all matrix multiplications — producing new information from existing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23774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6492240" y="2377440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Height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1000" y="2642616"/>
            <a:ext cx="320040" cy="292608"/>
          </a:xfrm>
          <a:prstGeom prst="rightArrow">
            <a:avLst/>
          </a:prstGeom>
          <a:solidFill>
            <a:srgbClr val="F96167"/>
          </a:solidFill>
        </p:spPr>
      </p:sp>
      <p:sp>
        <p:nvSpPr>
          <p:cNvPr id="12" name="Shape 10"/>
          <p:cNvSpPr/>
          <p:nvPr/>
        </p:nvSpPr>
        <p:spPr>
          <a:xfrm>
            <a:off x="8412480" y="210312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9E795"/>
          </a:solidFill>
        </p:spPr>
      </p:sp>
      <p:sp>
        <p:nvSpPr>
          <p:cNvPr id="13" name="Text 11"/>
          <p:cNvSpPr/>
          <p:nvPr/>
        </p:nvSpPr>
        <p:spPr>
          <a:xfrm>
            <a:off x="8412480" y="2103120"/>
            <a:ext cx="16916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195560" y="2642616"/>
            <a:ext cx="320040" cy="292608"/>
          </a:xfrm>
          <a:prstGeom prst="rightArrow">
            <a:avLst/>
          </a:prstGeom>
          <a:solidFill>
            <a:srgbClr val="F96167"/>
          </a:solidFill>
        </p:spPr>
      </p:sp>
      <p:sp>
        <p:nvSpPr>
          <p:cNvPr id="15" name="Shape 13"/>
          <p:cNvSpPr/>
          <p:nvPr/>
        </p:nvSpPr>
        <p:spPr>
          <a:xfrm>
            <a:off x="10607040" y="237744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E8A5F"/>
          </a:solidFill>
        </p:spPr>
      </p:sp>
      <p:sp>
        <p:nvSpPr>
          <p:cNvPr id="16" name="Text 14"/>
          <p:cNvSpPr/>
          <p:nvPr/>
        </p:nvSpPr>
        <p:spPr>
          <a:xfrm>
            <a:off x="10607040" y="2377440"/>
            <a:ext cx="1417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BMI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42062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6766560" y="438912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OPERATIONS AS MATRIX MULTIPLICATION
</a:t>
            </a: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Rotate  ·  Blur  ·  Zoom  ·  Resize
</a:t>
            </a:r>
            <a:endParaRPr lang="en-US" sz="11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visual effect you apply to a photo is a matrix acting on a matrix.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REASON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Similarity Measures &amp; Embeddings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2120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Embeddings turn words or sentences into a list of numbers (a vector) whose properties represent the meaning of that thing. This is how recommendation systems and AI chatbots compare meaning.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212080" cy="1463040"/>
          </a:xfrm>
          <a:prstGeom prst="roundRect">
            <a:avLst>
              <a:gd name="adj" fmla="val 5000"/>
            </a:avLst>
          </a:prstGeom>
          <a:solidFill>
            <a:srgbClr val="CADCFC"/>
          </a:solidFill>
        </p:spPr>
      </p:sp>
      <p:sp>
        <p:nvSpPr>
          <p:cNvPr id="6" name="Text 4"/>
          <p:cNvSpPr/>
          <p:nvPr/>
        </p:nvSpPr>
        <p:spPr>
          <a:xfrm>
            <a:off x="822960" y="3017520"/>
            <a:ext cx="47548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Arithmetic
</a:t>
            </a: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king − man + woman  =  queen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ChatGPT's word vectors encode relationships like this directly.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7F8FC"/>
          </a:solidFill>
        </p:spPr>
      </p:sp>
      <p:sp>
        <p:nvSpPr>
          <p:cNvPr id="8" name="Text 6"/>
          <p:cNvSpPr/>
          <p:nvPr/>
        </p:nvSpPr>
        <p:spPr>
          <a:xfrm>
            <a:off x="822960" y="470916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Spotify  </a:t>
            </a: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compares song vectors to find similar songs
</a:t>
            </a: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  </a:t>
            </a: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 dot product between two vectors</a:t>
            </a:r>
            <a:endParaRPr lang="en-US" sz="1300" dirty="0"/>
          </a:p>
        </p:txBody>
      </p:sp>
      <p:pic>
        <p:nvPicPr>
          <p:cNvPr id="9" name="Image 0" descr="images/04_embeddin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143000"/>
            <a:ext cx="5669280" cy="5120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Remember 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548640" y="1371600"/>
            <a:ext cx="11091672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Linear Algebra = The Language of Machine Learning. Without it, there is no AI.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1998878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</p:spPr>
      </p:sp>
      <p:sp>
        <p:nvSpPr>
          <p:cNvPr id="7" name="Text 5"/>
          <p:cNvSpPr/>
          <p:nvPr/>
        </p:nvSpPr>
        <p:spPr>
          <a:xfrm>
            <a:off x="640080" y="2926080"/>
            <a:ext cx="181599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81599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matrix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21838" y="2788920"/>
            <a:ext cx="1998878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</p:spPr>
      </p:sp>
      <p:sp>
        <p:nvSpPr>
          <p:cNvPr id="10" name="Text 8"/>
          <p:cNvSpPr/>
          <p:nvPr/>
        </p:nvSpPr>
        <p:spPr>
          <a:xfrm>
            <a:off x="2913278" y="2926080"/>
            <a:ext cx="181599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13278" y="3429000"/>
            <a:ext cx="181599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matrix operations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95037" y="2788920"/>
            <a:ext cx="1998878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</p:spPr>
      </p:sp>
      <p:sp>
        <p:nvSpPr>
          <p:cNvPr id="13" name="Text 11"/>
          <p:cNvSpPr/>
          <p:nvPr/>
        </p:nvSpPr>
        <p:spPr>
          <a:xfrm>
            <a:off x="5186477" y="2926080"/>
            <a:ext cx="181599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Compression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86477" y="3429000"/>
            <a:ext cx="181599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matrix decomposition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68235" y="2788920"/>
            <a:ext cx="1998878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</p:spPr>
      </p:sp>
      <p:sp>
        <p:nvSpPr>
          <p:cNvPr id="16" name="Text 14"/>
          <p:cNvSpPr/>
          <p:nvPr/>
        </p:nvSpPr>
        <p:spPr>
          <a:xfrm>
            <a:off x="7459675" y="2926080"/>
            <a:ext cx="181599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59675" y="3429000"/>
            <a:ext cx="181599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dot product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41434" y="2788920"/>
            <a:ext cx="1998878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</p:spPr>
      </p:sp>
      <p:sp>
        <p:nvSpPr>
          <p:cNvPr id="19" name="Text 17"/>
          <p:cNvSpPr/>
          <p:nvPr/>
        </p:nvSpPr>
        <p:spPr>
          <a:xfrm>
            <a:off x="9732874" y="2926080"/>
            <a:ext cx="181599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732874" y="3429000"/>
            <a:ext cx="181599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matrix multiplication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F7F8FC"/>
          </a:solidFill>
        </p:spPr>
      </p:sp>
      <p:sp>
        <p:nvSpPr>
          <p:cNvPr id="22" name="Text 20"/>
          <p:cNvSpPr/>
          <p:nvPr/>
        </p:nvSpPr>
        <p:spPr>
          <a:xfrm>
            <a:off x="548640" y="459028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 PIPELINE, IN ONE LINE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in   →   find patterns   →   make predictions.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one of those steps is vectors and matrices at work. No linear algebra, no AI.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Scalar, Vector, and Matrix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53384" cy="4297680"/>
          </a:xfrm>
          <a:prstGeom prst="roundRect">
            <a:avLst>
              <a:gd name="adj" fmla="val 2648"/>
            </a:avLst>
          </a:prstGeom>
          <a:solidFill>
            <a:srgbClr val="F7F8FC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453384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</p:spPr>
      </p:sp>
      <p:sp>
        <p:nvSpPr>
          <p:cNvPr id="6" name="Shape 4"/>
          <p:cNvSpPr/>
          <p:nvPr/>
        </p:nvSpPr>
        <p:spPr>
          <a:xfrm>
            <a:off x="548640" y="2011680"/>
            <a:ext cx="3453384" cy="4572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548640" y="1627632"/>
            <a:ext cx="34533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4533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number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2904744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direction — just magnitude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 type: int, float, double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 age = 20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C++:  float salary = 50000;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7784" y="1554480"/>
            <a:ext cx="3453384" cy="4297680"/>
          </a:xfrm>
          <a:prstGeom prst="roundRect">
            <a:avLst>
              <a:gd name="adj" fmla="val 2648"/>
            </a:avLst>
          </a:prstGeom>
          <a:solidFill>
            <a:srgbClr val="F7F8FC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7784" y="1554480"/>
            <a:ext cx="3453384" cy="9144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</p:spPr>
      </p:sp>
      <p:sp>
        <p:nvSpPr>
          <p:cNvPr id="12" name="Shape 10"/>
          <p:cNvSpPr/>
          <p:nvPr/>
        </p:nvSpPr>
        <p:spPr>
          <a:xfrm>
            <a:off x="4367784" y="2011680"/>
            <a:ext cx="3453384" cy="457200"/>
          </a:xfrm>
          <a:prstGeom prst="rect">
            <a:avLst/>
          </a:prstGeom>
          <a:solidFill>
            <a:srgbClr val="F96167"/>
          </a:solidFill>
        </p:spPr>
      </p:sp>
      <p:sp>
        <p:nvSpPr>
          <p:cNvPr id="13" name="Text 11"/>
          <p:cNvSpPr/>
          <p:nvPr/>
        </p:nvSpPr>
        <p:spPr>
          <a:xfrm>
            <a:off x="4367784" y="1627632"/>
            <a:ext cx="34533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Vector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67784" y="2103120"/>
            <a:ext cx="34533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list of numbers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42104" y="2743200"/>
            <a:ext cx="2904744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 both magnitude &amp; direction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 type: array of floats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 [2, -8, 7]  (Row 1)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float emp[2] = {5, 50000};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6928" y="1554480"/>
            <a:ext cx="3453384" cy="4297680"/>
          </a:xfrm>
          <a:prstGeom prst="roundRect">
            <a:avLst>
              <a:gd name="adj" fmla="val 2648"/>
            </a:avLst>
          </a:prstGeom>
          <a:solidFill>
            <a:srgbClr val="F7F8FC"/>
          </a:solidFill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6928" y="1554480"/>
            <a:ext cx="3453384" cy="914400"/>
          </a:xfrm>
          <a:prstGeom prst="roundRect">
            <a:avLst>
              <a:gd name="adj" fmla="val 10000"/>
            </a:avLst>
          </a:prstGeom>
          <a:solidFill>
            <a:srgbClr val="0E8A5F"/>
          </a:solidFill>
        </p:spPr>
      </p:sp>
      <p:sp>
        <p:nvSpPr>
          <p:cNvPr id="18" name="Shape 16"/>
          <p:cNvSpPr/>
          <p:nvPr/>
        </p:nvSpPr>
        <p:spPr>
          <a:xfrm>
            <a:off x="8186928" y="2011680"/>
            <a:ext cx="3453384" cy="457200"/>
          </a:xfrm>
          <a:prstGeom prst="rect">
            <a:avLst/>
          </a:prstGeom>
          <a:solidFill>
            <a:srgbClr val="0E8A5F"/>
          </a:solidFill>
        </p:spPr>
      </p:sp>
      <p:sp>
        <p:nvSpPr>
          <p:cNvPr id="19" name="Text 17"/>
          <p:cNvSpPr/>
          <p:nvPr/>
        </p:nvSpPr>
        <p:spPr>
          <a:xfrm>
            <a:off x="8186928" y="1627632"/>
            <a:ext cx="34533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Matrix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186928" y="2103120"/>
            <a:ext cx="34533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table of numbers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61248" y="2743200"/>
            <a:ext cx="2904744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Organized in rows + columns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e.g.  [ -6  -4  27 ]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3D data → [3, 1, 2] as a vector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Vectors stack to form a matrix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Case Study: How Does an Email Spam Filter Work?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97964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63284"/>
          </a:solidFill>
        </p:spPr>
      </p:sp>
      <p:sp>
        <p:nvSpPr>
          <p:cNvPr id="6" name="Shape 4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7" name="Text 5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02082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Spam word present?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17320" y="231343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 </a:t>
            </a:r>
            <a:r>
              <a:rPr lang="en-US" sz="1150" dirty="0" smtClean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or 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63284"/>
          </a:solidFill>
        </p:spPr>
      </p:sp>
      <p:sp>
        <p:nvSpPr>
          <p:cNvPr id="11" name="Shape 9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12" name="Text 10"/>
          <p:cNvSpPr/>
          <p:nvPr/>
        </p:nvSpPr>
        <p:spPr>
          <a:xfrm>
            <a:off x="731520" y="2926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88950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“Lottery” word </a:t>
            </a:r>
            <a:r>
              <a:rPr lang="en-US" sz="135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17320" y="318211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0, 1, or </a:t>
            </a:r>
            <a:r>
              <a:rPr lang="en-US" sz="1150" dirty="0" smtClean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263284"/>
          </a:solidFill>
        </p:spPr>
      </p:sp>
      <p:sp>
        <p:nvSpPr>
          <p:cNvPr id="16" name="Shape 14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17" name="Text 15"/>
          <p:cNvSpPr/>
          <p:nvPr/>
        </p:nvSpPr>
        <p:spPr>
          <a:xfrm>
            <a:off x="731520" y="3794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75818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“Win” word </a:t>
            </a:r>
            <a:r>
              <a:rPr lang="en-US" sz="135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17320" y="40507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0, 1, or 2 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9E795"/>
          </a:solidFill>
        </p:spPr>
      </p:sp>
      <p:sp>
        <p:nvSpPr>
          <p:cNvPr id="21" name="Text 19"/>
          <p:cNvSpPr/>
          <p:nvPr/>
        </p:nvSpPr>
        <p:spPr>
          <a:xfrm>
            <a:off x="822960" y="4892040"/>
            <a:ext cx="4846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 smtClean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(classifier):  </a:t>
            </a:r>
            <a:r>
              <a:rPr lang="en-US" sz="1500" b="1" dirty="0" smtClean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Lottery + Win &gt; Threshold</a:t>
            </a: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endParaRPr lang="en-US" sz="1300" dirty="0"/>
          </a:p>
        </p:txBody>
      </p:sp>
      <p:pic>
        <p:nvPicPr>
          <p:cNvPr id="22" name="Image 0" descr="images/09_spam_3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1417320"/>
            <a:ext cx="4960620" cy="49606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7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6E77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032000" y="719666"/>
          <a:ext cx="8696961" cy="508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987"/>
                <a:gridCol w="2898987"/>
                <a:gridCol w="2898987"/>
              </a:tblGrid>
              <a:tr h="508373">
                <a:tc>
                  <a:txBody>
                    <a:bodyPr/>
                    <a:lstStyle/>
                    <a:p>
                      <a:r>
                        <a:rPr lang="en-US" dirty="0" smtClean="0"/>
                        <a:t>Spam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Lottery (x)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Win (y) </a:t>
                      </a:r>
                      <a:endParaRPr lang="en-US" dirty="0"/>
                    </a:p>
                  </a:txBody>
                  <a:tcPr/>
                </a:tc>
              </a:tr>
              <a:tr h="508373"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508373"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508373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508373"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8373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508373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508373"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8373"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508373"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MECHANIC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Dot Product — How a Classifier Decides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Multiply each pair of corresponding numbers, then add the results.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CADCFC"/>
          </a:solidFill>
        </p:spPr>
      </p:sp>
      <p:sp>
        <p:nvSpPr>
          <p:cNvPr id="6" name="Text 4"/>
          <p:cNvSpPr/>
          <p:nvPr/>
        </p:nvSpPr>
        <p:spPr>
          <a:xfrm>
            <a:off x="548640" y="1783080"/>
            <a:ext cx="55778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· B = (a₁×b₁) + (a₂×b₂) + …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example — Spam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5577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(weight vector)  V = [1, 1]  — both inputs matter equally.
</a:t>
            </a:r>
            <a:r>
              <a:rPr lang="en-US" sz="1300" b="1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Rule:  if  email · V  &gt;  1.5   →   SPAM,   otherwise   →   INBOX
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FDECEC"/>
          </a:solidFill>
        </p:spPr>
      </p:sp>
      <p:sp>
        <p:nvSpPr>
          <p:cNvPr id="10" name="Text 8"/>
          <p:cNvSpPr/>
          <p:nvPr/>
        </p:nvSpPr>
        <p:spPr>
          <a:xfrm>
            <a:off x="685800" y="438912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[1, 1] · [1, 1]  = 2
</a:t>
            </a:r>
            <a:r>
              <a:rPr lang="en-US" sz="12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434340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EAF3EC"/>
          </a:solidFill>
        </p:spPr>
      </p:sp>
      <p:sp>
        <p:nvSpPr>
          <p:cNvPr id="12" name="Text 10"/>
          <p:cNvSpPr/>
          <p:nvPr/>
        </p:nvSpPr>
        <p:spPr>
          <a:xfrm>
            <a:off x="3566160" y="438912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[0, 0] · [1, 1]  = 0
</a:t>
            </a:r>
            <a:r>
              <a:rPr lang="en-US" sz="1200" b="1" dirty="0">
                <a:solidFill>
                  <a:srgbClr val="0E8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INBOX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FDECEC"/>
          </a:solidFill>
        </p:spPr>
      </p:sp>
      <p:sp>
        <p:nvSpPr>
          <p:cNvPr id="14" name="Text 12"/>
          <p:cNvSpPr/>
          <p:nvPr/>
        </p:nvSpPr>
        <p:spPr>
          <a:xfrm>
            <a:off x="685800" y="516636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[2, 2] · [1, 1]  = 4
</a:t>
            </a:r>
            <a:r>
              <a:rPr lang="en-US" sz="12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29000" y="5120640"/>
            <a:ext cx="2697480" cy="640080"/>
          </a:xfrm>
          <a:prstGeom prst="roundRect">
            <a:avLst>
              <a:gd name="adj" fmla="val 8571"/>
            </a:avLst>
          </a:prstGeom>
          <a:solidFill>
            <a:srgbClr val="EAF3EC"/>
          </a:solidFill>
        </p:spPr>
      </p:sp>
      <p:sp>
        <p:nvSpPr>
          <p:cNvPr id="16" name="Text 14"/>
          <p:cNvSpPr/>
          <p:nvPr/>
        </p:nvSpPr>
        <p:spPr>
          <a:xfrm>
            <a:off x="3566160" y="5166360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[0, 1] · [1, 1]  = 1
</a:t>
            </a:r>
            <a:r>
              <a:rPr lang="en-US" sz="1200" b="1" dirty="0">
                <a:solidFill>
                  <a:srgbClr val="0E8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INBOX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6766560" y="2011680"/>
            <a:ext cx="457200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idea, different model
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weight vector V is fully customizable — change it and the classifier's behavior changes:
</a:t>
            </a: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[1,0]  →  only x matters
[0,1]  →  only y matters
[0,0]  →  no input matters
</a:t>
            </a:r>
            <a:r>
              <a:rPr lang="en-US" sz="12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spam filter you can build, an inbox filter can be built the same way.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GEOMETRY OF CLASSIFIERS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Logic Gates Are Linear </a:t>
            </a:r>
            <a:r>
              <a:rPr lang="en-US" sz="3200" b="1" dirty="0" smtClean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Classifiers &amp; and have one layer neural network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truth table can be checked: can a straight line (a hyperplane) separate the outputs? If yes → one layer is enough. If no → we need more.</a:t>
            </a:r>
            <a:endParaRPr lang="en-US" sz="1350" dirty="0"/>
          </a:p>
        </p:txBody>
      </p:sp>
      <p:pic>
        <p:nvPicPr>
          <p:cNvPr id="5" name="Image 0" descr="images/05_and_g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486400" cy="4800600"/>
          </a:xfrm>
          <a:prstGeom prst="rect">
            <a:avLst/>
          </a:prstGeom>
        </p:spPr>
      </p:pic>
      <p:pic>
        <p:nvPicPr>
          <p:cNvPr id="6" name="Image 1" descr="images/06_or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392" y="1840992"/>
            <a:ext cx="5486400" cy="4800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GEOMETRY OF CLASSIFIERS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Flipping the Rule: NAND, NOR, and NOT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Changing the weight vector or the threshold reshapes the decision boundary — the same one-layer model can implement many different gates.</a:t>
            </a:r>
            <a:endParaRPr lang="en-US" sz="1350" dirty="0"/>
          </a:p>
        </p:txBody>
      </p:sp>
      <p:pic>
        <p:nvPicPr>
          <p:cNvPr id="5" name="Image 0" descr="images/07_nand_g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828800"/>
            <a:ext cx="548640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LIMIT OF LINEAR MODELS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XOR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XOR is NOT linearly separable — a single-layer classifier cannot solve it, no matter how the weight vector is chosen.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7F8FC"/>
          </a:solidFill>
        </p:spPr>
      </p:sp>
      <p:sp>
        <p:nvSpPr>
          <p:cNvPr id="6" name="Text 4"/>
          <p:cNvSpPr/>
          <p:nvPr/>
        </p:nvSpPr>
        <p:spPr>
          <a:xfrm>
            <a:off x="777240" y="2423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XOR TRUTH TABLE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77240" y="2743200"/>
          <a:ext cx="4937760" cy="1447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x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Output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  (No)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 (Yes)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 (Yes)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A3F5C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  (No)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348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DECEC"/>
          </a:solidFill>
        </p:spPr>
      </p:sp>
      <p:sp>
        <p:nvSpPr>
          <p:cNvPr id="9" name="Text 6"/>
          <p:cNvSpPr/>
          <p:nvPr/>
        </p:nvSpPr>
        <p:spPr>
          <a:xfrm>
            <a:off x="822960" y="461772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Condition-based rule instead:
</a:t>
            </a:r>
            <a:r>
              <a:rPr lang="en-US" sz="1300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 x = y   →  Output = 0
If  x ≠ y   →  Output = 1
</a:t>
            </a:r>
            <a:r>
              <a:rPr lang="en-US" sz="1150" i="1" dirty="0">
                <a:solidFill>
                  <a:srgbClr val="3A3F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condition can't be written as one straight boundary — we need to combine multiple lines.</a:t>
            </a:r>
            <a:endParaRPr lang="en-US" sz="1300" dirty="0"/>
          </a:p>
        </p:txBody>
      </p:sp>
      <p:pic>
        <p:nvPicPr>
          <p:cNvPr id="10" name="Image 0" descr="images/08_xor_g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17320"/>
            <a:ext cx="5486400" cy="4892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9AA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Solving XOR: Stack the Layers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line can't separate XOR — but two lines, combined, can. This is exactly what a hidden layer in a neural network does.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325880" y="3017520"/>
            <a:ext cx="2560320" cy="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3017520"/>
            <a:ext cx="2560320" cy="50292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3017520"/>
            <a:ext cx="2560320" cy="150876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4480560"/>
            <a:ext cx="2560320" cy="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4480560"/>
            <a:ext cx="2560320" cy="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4480560"/>
            <a:ext cx="2560320" cy="4572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514600"/>
            <a:ext cx="2560320" cy="100584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3520440"/>
            <a:ext cx="2560320" cy="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4526280"/>
            <a:ext cx="2560320" cy="0"/>
          </a:xfrm>
          <a:prstGeom prst="line">
            <a:avLst/>
          </a:prstGeom>
          <a:noFill/>
          <a:ln w="15875">
            <a:solidFill>
              <a:srgbClr val="6E77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697480"/>
            <a:ext cx="640080" cy="64008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974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60520"/>
            <a:ext cx="640080" cy="640080"/>
          </a:xfrm>
          <a:prstGeom prst="ellipse">
            <a:avLst/>
          </a:prstGeom>
          <a:solidFill>
            <a:srgbClr val="F9616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60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86200" y="2194560"/>
            <a:ext cx="640080" cy="640080"/>
          </a:xfrm>
          <a:prstGeom prst="ellipse">
            <a:avLst/>
          </a:prstGeom>
          <a:solidFill>
            <a:srgbClr val="0E8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21945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86200" y="3200400"/>
            <a:ext cx="640080" cy="640080"/>
          </a:xfrm>
          <a:prstGeom prst="ellipse">
            <a:avLst/>
          </a:prstGeom>
          <a:solidFill>
            <a:srgbClr val="0E8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3200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86200" y="4206240"/>
            <a:ext cx="640080" cy="640080"/>
          </a:xfrm>
          <a:prstGeom prst="ellipse">
            <a:avLst/>
          </a:prstGeom>
          <a:solidFill>
            <a:srgbClr val="0E8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86200" y="4206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86600" y="3200400"/>
            <a:ext cx="640080" cy="640080"/>
          </a:xfrm>
          <a:prstGeom prst="ellipse">
            <a:avLst/>
          </a:prstGeom>
          <a:solidFill>
            <a:srgbClr val="F9E79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32004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5321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55321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(linear boundaries)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55321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(combines boundaries)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61120" y="2286000"/>
            <a:ext cx="2011680" cy="3931920"/>
          </a:xfrm>
          <a:prstGeom prst="roundRect">
            <a:avLst>
              <a:gd name="adj" fmla="val 3636"/>
            </a:avLst>
          </a:prstGeom>
          <a:solidFill>
            <a:srgbClr val="263284"/>
          </a:solidFill>
        </p:spPr>
      </p:sp>
      <p:sp>
        <p:nvSpPr>
          <p:cNvPr id="30" name="Text 28"/>
          <p:cNvSpPr/>
          <p:nvPr/>
        </p:nvSpPr>
        <p:spPr>
          <a:xfrm>
            <a:off x="9144000" y="2514600"/>
            <a:ext cx="1645920" cy="3566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idea
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layer:
draws linear boundaries
Output layer:
combines those boundaries
Threshold:
acts as the activation step
</a:t>
            </a:r>
            <a:r>
              <a:rPr lang="en-US" sz="10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a perfect mapping that matches the XOR truth table.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77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6E77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ALGEBRA IN 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7102</Words>
  <Application>WPS Presentation</Application>
  <PresentationFormat>Custom</PresentationFormat>
  <Paragraphs>412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Asad</cp:lastModifiedBy>
  <cp:revision>14</cp:revision>
  <dcterms:created xsi:type="dcterms:W3CDTF">2026-08-23T18:09:00Z</dcterms:created>
  <dcterms:modified xsi:type="dcterms:W3CDTF">2026-08-28T09:35:02Z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824F299A1AAA4EBF862852475FDDBEAE_12</vt:lpwstr>
  </property>
  <property fmtid="{D5CDD505-2E9C-101B-9397-08002B2CF9AE}" pid="3" name="KSOProductBuildVer">
    <vt:lpwstr>1033-12.1.0.28032</vt:lpwstr>
  </property>
</Properties>
</file>