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41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98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80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228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199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7344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120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0650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5674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331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324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132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713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765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914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800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61665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4875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935844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0281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87755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972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1040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84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7441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7036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7211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894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10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50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2B4A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1051560"/>
            <a:ext cx="3383280" cy="3383280"/>
          </a:xfrm>
          <a:prstGeom prst="roundRect">
            <a:avLst>
              <a:gd name="adj" fmla="val 5405"/>
            </a:avLst>
          </a:prstGeom>
          <a:solidFill>
            <a:srgbClr val="1A3A5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96528" y="1645920"/>
          <a:ext cx="2057400" cy="186537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600200"/>
            <a:ext cx="0" cy="195681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0" y="160020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0" y="3557016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63656" y="1600200"/>
            <a:ext cx="0" cy="195681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53928" y="160020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53928" y="3557016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•  MATH FOR MACHINE LEARNING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1481328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of a Matrix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731520" y="2487168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Systems of Statements to Row Echelon Form — and Why It Matters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4160520"/>
            <a:ext cx="6309360" cy="1417320"/>
          </a:xfrm>
          <a:prstGeom prst="roundRect">
            <a:avLst>
              <a:gd name="adj" fmla="val 9032"/>
            </a:avLst>
          </a:prstGeom>
          <a:solidFill>
            <a:srgbClr val="0B1A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" y="4434840"/>
            <a:ext cx="868680" cy="8686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434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10312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Instructor: Dr. M. Asad Iqbal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10312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20240" y="484930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Computing and Innovation 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39112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statements — complete, redundant, or contradictory?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90672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999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Theory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33375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row echelon form, and elementary row operations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142232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3891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rank of a 3×3 matrix step by step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102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5440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rank reduction compresses digital images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Systems of Statements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touch a single number, let's build intuition with sentences instead of equations.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273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6576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is </a:t>
            </a: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Non-singular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80560" y="251460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EE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273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54880" y="4480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0" y="2514600"/>
            <a:ext cx="3291840" cy="2651760"/>
          </a:xfrm>
          <a:prstGeom prst="roundRect">
            <a:avLst>
              <a:gd name="adj" fmla="val 4828"/>
            </a:avLst>
          </a:prstGeom>
          <a:solidFill>
            <a:srgbClr val="EEF3F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503920" y="32735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36576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AAAAA"/>
          </a:solidFill>
          <a:ln w="12700">
            <a:solidFill>
              <a:srgbClr val="5670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03920" y="4480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1520" y="5440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non-singular only when every statement adds genuinely new information.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Third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scales: with three statements about the dog, cat, and bird, we can still classify each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017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4015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is </a:t>
            </a: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904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78561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is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3982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4727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Non-singular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02152" y="23774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3730752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30752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19" name="Text 17"/>
          <p:cNvSpPr/>
          <p:nvPr/>
        </p:nvSpPr>
        <p:spPr>
          <a:xfrm>
            <a:off x="4005072" y="3017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30752" y="3520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4005072" y="34015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30752" y="3904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005072" y="378561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is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30752" y="43982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730752" y="4727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72784" y="23774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EF3F8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01384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04" y="3017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01384" y="3520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34015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01384" y="3904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33" name="Text 31"/>
          <p:cNvSpPr/>
          <p:nvPr/>
        </p:nvSpPr>
        <p:spPr>
          <a:xfrm>
            <a:off x="6775704" y="378561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01384" y="43982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501384" y="4727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043416" y="2377440"/>
            <a:ext cx="2514600" cy="3063240"/>
          </a:xfrm>
          <a:prstGeom prst="roundRect">
            <a:avLst>
              <a:gd name="adj" fmla="val 5091"/>
            </a:avLst>
          </a:prstGeom>
          <a:solidFill>
            <a:srgbClr val="EEF3F8"/>
          </a:solidFill>
          <a:ln/>
        </p:spPr>
      </p:sp>
      <p:sp>
        <p:nvSpPr>
          <p:cNvPr id="37" name="Text 35"/>
          <p:cNvSpPr/>
          <p:nvPr/>
        </p:nvSpPr>
        <p:spPr>
          <a:xfrm>
            <a:off x="9272016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272016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39" name="Text 37"/>
          <p:cNvSpPr/>
          <p:nvPr/>
        </p:nvSpPr>
        <p:spPr>
          <a:xfrm>
            <a:off x="9546336" y="3017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272016" y="3520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AAAAA"/>
          </a:solidFill>
          <a:ln w="12700">
            <a:solidFill>
              <a:srgbClr val="5670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46336" y="34015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is </a:t>
            </a: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272016" y="3904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46336" y="378561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is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72016" y="439826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272016" y="4727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Statements to Rows to Rank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3200400" cy="2103120"/>
          </a:xfrm>
          <a:prstGeom prst="roundRect">
            <a:avLst>
              <a:gd name="adj" fmla="val 6087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dog is black”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one piece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information.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200400" cy="2103120"/>
          </a:xfrm>
          <a:prstGeom prst="roundRect">
            <a:avLst>
              <a:gd name="adj" fmla="val 6087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statement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one row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system / matrix.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200400" cy="2103120"/>
          </a:xfrm>
          <a:prstGeom prst="roundRect">
            <a:avLst>
              <a:gd name="adj" fmla="val 6087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017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 → independent row → rank increases.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or conflicting info → dependent row → rank stays the same.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141B4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the number of statements (rows) that are truly independent — a system missing independent statements, or containing conflicting ones, is called singular.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of a Matrix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6126480" cy="2286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 of a matrix A is the maximum number of linearly independent rows (or columns) in 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Denoted as: rank(A)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equals the number of non-zero rows when A is written in row echelon form.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78040" y="1965960"/>
            <a:ext cx="4251960" cy="4160520"/>
          </a:xfrm>
          <a:prstGeom prst="roundRect">
            <a:avLst>
              <a:gd name="adj" fmla="val 2637"/>
            </a:avLst>
          </a:prstGeom>
          <a:solidFill>
            <a:srgbClr val="10233F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 MATTERS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26974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254203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if a system of equations has a unique, infinite, or no solution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347472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331927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a matrix is invertible (full rank / non-singular)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425196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409651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image compression, computer graphics &amp; machine 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502920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8737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determine the dimension of the solution 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Echelon Form (REF)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in row echelon form when it satisfies all of the following: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non-zero rows are above any rows of all zeros.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9900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44368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(first non-zero) entry of each row — the pivot — is to the right of the pivot in the row above.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6484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602736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entries in a column below a pivot are zero.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5236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shape (★ = pivot, non-zero)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2331720"/>
          <a:ext cx="2057400" cy="186537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19872" y="2286000"/>
            <a:ext cx="0" cy="1956816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19872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19872" y="4242816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396728" y="2286000"/>
            <a:ext cx="0" cy="1956816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87000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87000" y="4242816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Elementary Row Operations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these operations to transform a matrix into echelon form without changing its rank.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3429000" cy="2834640"/>
          </a:xfrm>
          <a:prstGeom prst="roundRect">
            <a:avLst>
              <a:gd name="adj" fmla="val 4516"/>
            </a:avLst>
          </a:prstGeom>
          <a:solidFill>
            <a:srgbClr val="EEF3F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two rows.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754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↔ Rⱼ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3429000" cy="2834640"/>
          </a:xfrm>
          <a:prstGeom prst="roundRect">
            <a:avLst>
              <a:gd name="adj" fmla="val 4516"/>
            </a:avLst>
          </a:prstGeom>
          <a:solidFill>
            <a:srgbClr val="1023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 row by a non-zero constant.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754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→ k·Rᵢ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2514600"/>
            <a:ext cx="3429000" cy="2834640"/>
          </a:xfrm>
          <a:prstGeom prst="roundRect">
            <a:avLst>
              <a:gd name="adj" fmla="val 4516"/>
            </a:avLst>
          </a:prstGeom>
          <a:solidFill>
            <a:srgbClr val="EEF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35661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Subtract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multiple of one row to another.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→ Rᵢ + k·Rⱼ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RULE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= Number of Non-Zero Rows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Row Echelon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3×3 matrix, the rank can be </a:t>
            </a: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or 3</a:t>
            </a:r>
            <a:r>
              <a:rPr lang="en-US" sz="15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depending on how many non-zero rows remain after reduction.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1700784" cy="13716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" name="Shape 7"/>
          <p:cNvSpPr/>
          <p:nvPr/>
        </p:nvSpPr>
        <p:spPr>
          <a:xfrm>
            <a:off x="254203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32304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4114800"/>
          <a:ext cx="1700784" cy="13716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18795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87952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87952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0819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4" name="Shape 15"/>
          <p:cNvSpPr/>
          <p:nvPr/>
        </p:nvSpPr>
        <p:spPr>
          <a:xfrm>
            <a:off x="5998464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98464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4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114800"/>
          <a:ext cx="1700784" cy="137160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775411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54112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754112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674352" y="4069080"/>
            <a:ext cx="0" cy="146304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64624" y="406908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2" name="Shape 23"/>
          <p:cNvSpPr/>
          <p:nvPr/>
        </p:nvSpPr>
        <p:spPr>
          <a:xfrm>
            <a:off x="9564624" y="5532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rank of the following 3×3 matrix using row echelon form: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3337560"/>
          <a:ext cx="2331720" cy="197510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993392" y="3291840"/>
            <a:ext cx="0" cy="206654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93392" y="329184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1993392" y="535838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3291840"/>
            <a:ext cx="0" cy="206654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329184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535838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2377440"/>
            <a:ext cx="5166360" cy="3566160"/>
          </a:xfrm>
          <a:prstGeom prst="roundRect">
            <a:avLst>
              <a:gd name="adj" fmla="val 3590"/>
            </a:avLst>
          </a:prstGeom>
          <a:solidFill>
            <a:srgbClr val="10233F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3063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03720" y="3063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R1 as the pivot row (leading entry = 1).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37960" y="37216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03720" y="37216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entries below the pivot in column 1.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37960" y="437997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03720" y="437997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entries below the pivot in column 2.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537960" y="503834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03720" y="50383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non-zero rows in the resulting echelon form.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Below the First Pivot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31720"/>
          <a:ext cx="1975104" cy="1700784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635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06624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6" name="Shape 9"/>
          <p:cNvSpPr/>
          <p:nvPr/>
        </p:nvSpPr>
        <p:spPr>
          <a:xfrm>
            <a:off x="2706624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3200400"/>
            <a:ext cx="914400" cy="0"/>
          </a:xfrm>
          <a:prstGeom prst="line">
            <a:avLst/>
          </a:prstGeom>
          <a:noFill/>
          <a:ln w="25400">
            <a:solidFill>
              <a:srgbClr val="1023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2880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7607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331720"/>
          <a:ext cx="1975104" cy="1700784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65099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50992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50992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4555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35824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35824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6" name="Shape 19"/>
          <p:cNvSpPr/>
          <p:nvPr/>
        </p:nvSpPr>
        <p:spPr>
          <a:xfrm>
            <a:off x="731520" y="4297680"/>
            <a:ext cx="10698480" cy="1691640"/>
          </a:xfrm>
          <a:prstGeom prst="roundRect">
            <a:avLst>
              <a:gd name="adj" fmla="val 6486"/>
            </a:avLst>
          </a:prstGeom>
          <a:solidFill>
            <a:srgbClr val="EEF3F8"/>
          </a:solidFill>
          <a:ln/>
        </p:spPr>
      </p:sp>
      <p:sp>
        <p:nvSpPr>
          <p:cNvPr id="24" name="Text 20"/>
          <p:cNvSpPr/>
          <p:nvPr/>
        </p:nvSpPr>
        <p:spPr>
          <a:xfrm>
            <a:off x="10058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Operations Applied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05840" y="48006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 → R₂ − 2R₁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(2, 5, 3) − 2(1, 2, 3) = (0, 1, −3)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R₃ → R₃ − R₁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0, 8) − (1, 2, 3) = (0, −2, 5)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Below the Second Pivot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31720"/>
          <a:ext cx="1975104" cy="1700784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635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06624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06624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6" name="Text 10"/>
          <p:cNvSpPr/>
          <p:nvPr/>
        </p:nvSpPr>
        <p:spPr>
          <a:xfrm>
            <a:off x="5074920" y="2880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7607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Echelon Form: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331720"/>
          <a:ext cx="1975104" cy="1700784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65099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50992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50992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45552" y="2286000"/>
            <a:ext cx="0" cy="179222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35824" y="228600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35824" y="407822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1520" y="4297680"/>
            <a:ext cx="10698480" cy="1691640"/>
          </a:xfrm>
          <a:prstGeom prst="roundRect">
            <a:avLst>
              <a:gd name="adj" fmla="val 6486"/>
            </a:avLst>
          </a:prstGeom>
          <a:solidFill>
            <a:srgbClr val="EEF3F8"/>
          </a:solidFill>
          <a:ln/>
        </p:spPr>
      </p:sp>
      <p:sp>
        <p:nvSpPr>
          <p:cNvPr id="23" name="Text 19"/>
          <p:cNvSpPr/>
          <p:nvPr/>
        </p:nvSpPr>
        <p:spPr>
          <a:xfrm>
            <a:off x="10058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Operation Applied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05840" y="48006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R₃ → R₃ + 2R₂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(0, −2, 5) + 2(0, 1, −3) = (0, 0, −1)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matrix is now in row echelon form — every pivot lies strictly right of the one above, and all entries below each pivot are zero.</a:t>
            </a:r>
            <a:endParaRPr lang="en-US" sz="1600" dirty="0"/>
          </a:p>
        </p:txBody>
      </p:sp>
      <p:sp>
        <p:nvSpPr>
          <p:cNvPr id="15" name="Text 21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Echelon Form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2606040" cy="21945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2103120"/>
            <a:ext cx="0" cy="228600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2103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4389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47288" y="2103120"/>
            <a:ext cx="0" cy="228600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2103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4389120"/>
            <a:ext cx="109728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2286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rows are non-zero → 3 pivots.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46320" y="27432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 3×3 matrix can have rank at most 3, this matrix has full rank.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3566160"/>
            <a:ext cx="6217920" cy="1371600"/>
          </a:xfrm>
          <a:prstGeom prst="roundRect">
            <a:avLst>
              <a:gd name="adj" fmla="val 9333"/>
            </a:avLst>
          </a:prstGeom>
          <a:solidFill>
            <a:srgbClr val="D9A441"/>
          </a:solidFill>
          <a:ln/>
        </p:spPr>
      </p:sp>
      <p:sp>
        <p:nvSpPr>
          <p:cNvPr id="4" name="Text 11"/>
          <p:cNvSpPr/>
          <p:nvPr/>
        </p:nvSpPr>
        <p:spPr>
          <a:xfrm>
            <a:off x="4846320" y="356616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rank(A) = 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full-rank (non-singular) matrix — its rows are linearly independent and A is invertible.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rank of matrix B using row echelon form. Reduce it step by step, then count the non-zero rows.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4937760" cy="3291840"/>
          </a:xfrm>
          <a:prstGeom prst="roundRect">
            <a:avLst>
              <a:gd name="adj" fmla="val 3889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703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3383280"/>
          <a:ext cx="2331720" cy="197510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13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993392" y="3337560"/>
            <a:ext cx="0" cy="206654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93392" y="333756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40410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3337560"/>
            <a:ext cx="0" cy="2066544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3337560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5404104"/>
            <a:ext cx="109728" cy="0"/>
          </a:xfrm>
          <a:prstGeom prst="line">
            <a:avLst/>
          </a:prstGeom>
          <a:noFill/>
          <a:ln w="28575">
            <a:solidFill>
              <a:srgbClr val="10233F"/>
            </a:solidFill>
            <a:prstDash val="solid"/>
          </a:ln>
        </p:spPr>
      </p:sp>
      <p:sp>
        <p:nvSpPr>
          <p:cNvPr id="8" name="Shape 12"/>
          <p:cNvSpPr/>
          <p:nvPr/>
        </p:nvSpPr>
        <p:spPr>
          <a:xfrm>
            <a:off x="6035040" y="2514600"/>
            <a:ext cx="5394960" cy="3291840"/>
          </a:xfrm>
          <a:prstGeom prst="roundRect">
            <a:avLst>
              <a:gd name="adj" fmla="val 3889"/>
            </a:avLst>
          </a:prstGeom>
          <a:solidFill>
            <a:srgbClr val="10233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324612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0906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Row 2 is exactly twice Row 1 — what will R₂ − 2R₁ give?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09360" y="402336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38679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will fully vanish (become all zeros).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09360" y="480060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6451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non-zero rows remain? That count is the rank.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Compressing Images by Reducing Rank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grayscale image is just a matrix of pixel brightness values. Its rank tells us how much independent visual information it contains.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120640" cy="3474720"/>
          </a:xfrm>
          <a:prstGeom prst="roundRect">
            <a:avLst>
              <a:gd name="adj" fmla="val 3684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APPROXIMATION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storing every pixel, we approximate the image matrix using only its top k most important row/column directions — a rank-k approximation.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 grows, the approximation captures more detail — until it converges to the full-rank original.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5303520" cy="3474720"/>
          </a:xfrm>
          <a:prstGeom prst="roundRect">
            <a:avLst>
              <a:gd name="adj" fmla="val 3684"/>
            </a:avLst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SAVES 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200×200 image (rank 200) needs up to 40,000 numbers to store in full.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947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rank-10 approximation needs only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10×(200+200) = 4,000 numbers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10× reduction in storage — the core idea behind many image and video compression techniques.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Image at Different Ranks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22376" y="1819656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5" name="Image 0" descr="/home/claude/rank_ppt/assets/clea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3246120" cy="1837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7307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(Rank 200)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8536" y="1819656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8" name="Image 1" descr="/home/claude/rank_ppt/assets/clean_rank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74520"/>
            <a:ext cx="3246120" cy="1837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37307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854696" y="1819656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11" name="Image 2" descr="/home/claude/rank_ppt/assets/clean_rank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874520"/>
            <a:ext cx="3246120" cy="18379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9560" y="37307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22376" y="4160520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14" name="Image 3" descr="/home/claude/rank_ppt/assets/clean_rank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15384"/>
            <a:ext cx="3246120" cy="18379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6071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288536" y="4160520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17" name="Image 4" descr="/home/claude/rank_ppt/assets/clean_rank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4215384"/>
            <a:ext cx="3246120" cy="18379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3400" y="6071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15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854696" y="4160520"/>
            <a:ext cx="3355848" cy="2167128"/>
          </a:xfrm>
          <a:prstGeom prst="roundRect">
            <a:avLst>
              <a:gd name="adj" fmla="val 3376"/>
            </a:avLst>
          </a:prstGeom>
          <a:solidFill>
            <a:srgbClr val="1A3A5C"/>
          </a:solidFill>
          <a:ln/>
        </p:spPr>
      </p:sp>
      <p:pic>
        <p:nvPicPr>
          <p:cNvPr id="20" name="Image 5" descr="/home/claude/rank_ppt/assets/clean_rank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215384"/>
            <a:ext cx="3246120" cy="18379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09560" y="6071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Quiz: Systems of Statements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6512"/>
            </a:avLst>
          </a:prstGeom>
          <a:solidFill>
            <a:srgbClr val="EEF3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system: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Between the dog, the cat, and the bird, one is red.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8986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Between the dog and the cat, one is orange.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32826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dog is black.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023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color is the bird?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10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system singular or non-singular?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FEE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Through the Answer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505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Dog, cat, bird — one is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Dog, cat — one is </a:t>
            </a: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186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998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dog is </a:t>
            </a: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“orange” statement must refer to the </a:t>
            </a:r>
            <a:r>
              <a:rPr lang="en-US" sz="1300" b="1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leaves “red” for the only remaining animal: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bird is red.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0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statements gives new, independent information — none repeats or contradicts another.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non-singular.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7200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three animals, three genuinely independent facts → a 3×3 system with rank 3 — exactly like our matrix A from the worked example.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2996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non-singular only when every statement / row adds independent information.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80720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number of non-zero rows once a matrix is reduced to row echelon form.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row operations (swap, scale, add) reduce a matrix without changing its rank.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36168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example, A reduced to 3 non-zero rows → rank(A) = 3 (full rank, non-singular).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3892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rank underlies real applications — like compressing images with far less stored data.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more 3×3 matrices to build speed and confidence!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a Matrix • Linear Algebra • BS(IT)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</TotalTime>
  <Words>1794</Words>
  <Application>Microsoft Office PowerPoint</Application>
  <PresentationFormat>Widescreen</PresentationFormat>
  <Paragraphs>390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2026-09-12T10:46:20Z</dcterms:created>
  <dcterms:modified xsi:type="dcterms:W3CDTF">2026-09-12T10:52:38Z</dcterms:modified>
</cp:coreProperties>
</file>